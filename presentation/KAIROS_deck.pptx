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KAIROS</a:t>
            </a:r>
          </a:p>
          <a:p>
            <a:r>
              <a:t>Kinetics of Aortic bioprosthesis Integrity, Risk-adapted echO Surveillance</a:t>
            </a:r>
          </a:p>
          <a:p>
            <a:r>
              <a:t>καιρός, the right moment.</a:t>
            </a:r>
          </a:p>
          <a:p>
            <a:r>
              <a:t>Dyania Health Hackathon 2026 · AVR Durability Challenge</a:t>
            </a:r>
          </a:p>
          <a:p>
            <a:r>
              <a:t>Panagiotis Sotiropoulos, physician  ·  Kostis Dovelos, PhD, engineering  ·  Minas Papageorgiou, engineering</a:t>
            </a:r>
          </a:p>
          <a:p>
            <a:r>
              <a:t>17 September 2026</a:t>
            </a:r>
          </a:p>
          <a:p>
            <a:r>
              <a:t>1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 H E P R O B L E M</a:t>
            </a:r>
          </a:p>
          <a:p>
            <a:r>
              <a:t>The valve wears out quietly, and one schedule</a:t>
            </a:r>
          </a:p>
          <a:p>
            <a:r>
              <a:t>watches everyone</a:t>
            </a:r>
          </a:p>
          <a:p>
            <a:r>
              <a:t>1 in 3</a:t>
            </a:r>
          </a:p>
          <a:p>
            <a:r>
              <a:t>surgical bioprostheses showed haemodynamic</a:t>
            </a:r>
          </a:p>
          <a:p>
            <a:r>
              <a:t>deterioration over a decade, in a 1,387-patient cohort</a:t>
            </a:r>
          </a:p>
          <a:p>
            <a:r>
              <a:t>10.8%</a:t>
            </a:r>
          </a:p>
          <a:p>
            <a:r>
              <a:t>VARC-3 moderate or severe deterioration at five</a:t>
            </a:r>
          </a:p>
          <a:p>
            <a:r>
              <a:t>years after transcatheter implant, in 2,403 patients</a:t>
            </a:r>
          </a:p>
          <a:p>
            <a:r>
              <a:t>29</a:t>
            </a:r>
          </a:p>
          <a:p>
            <a:r>
              <a:t>of our own 117 patients carry an externally mounted</a:t>
            </a:r>
          </a:p>
          <a:p>
            <a:r>
              <a:t>pericardial valve, the Trifecta class. The FDA warned</a:t>
            </a:r>
          </a:p>
          <a:p>
            <a:r>
              <a:t>about it in 2023 and the maker withdrew it</a:t>
            </a:r>
          </a:p>
          <a:p>
            <a:r>
              <a:t>REOPERATIVE AVR, UK 1996–2019</a:t>
            </a:r>
          </a:p>
          <a:p>
            <a:r>
              <a:t>MORTALITY</a:t>
            </a:r>
          </a:p>
          <a:p>
            <a:r>
              <a:t>Elective</a:t>
            </a:r>
          </a:p>
          <a:p>
            <a:r>
              <a:t>4.8%</a:t>
            </a:r>
          </a:p>
          <a:p>
            <a:r>
              <a:t>Urgent</a:t>
            </a:r>
          </a:p>
          <a:p>
            <a:r>
              <a:t>11.8%</a:t>
            </a:r>
          </a:p>
          <a:p>
            <a:r>
              <a:t>Emergency</a:t>
            </a:r>
          </a:p>
          <a:p>
            <a:r>
              <a:t>31.7%</a:t>
            </a:r>
          </a:p>
          <a:p>
            <a:r>
              <a:t>An association across all reoperation causes, not a count of preventable deaths.</a:t>
            </a:r>
          </a:p>
          <a:p>
            <a:r>
              <a:t>Surveillance is fixed. The same interval for a 42-year-old with a small</a:t>
            </a:r>
          </a:p>
          <a:p>
            <a:r>
              <a:t>externally mounted valve and an 84-year-old with a large one.</a:t>
            </a:r>
          </a:p>
          <a:p>
            <a:r>
              <a:t>Attendance is not. Five-year echo follow-up was missing in 30.4% of</a:t>
            </a:r>
          </a:p>
          <a:p>
            <a:r>
              <a:t>transcatheter and 35.7% of surgical patients in a low-risk trial.</a:t>
            </a:r>
          </a:p>
          <a:p>
            <a:r>
              <a:t>Readings vary between sites, and gradients depend on flow.</a:t>
            </a:r>
          </a:p>
          <a:p>
            <a:r>
              <a:t>KAIROS</a:t>
            </a:r>
          </a:p>
          <a:p>
            <a:r>
              <a:t>2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 H E Q U E S T I O N</a:t>
            </a:r>
          </a:p>
          <a:p>
            <a:r>
              <a:t>Nobody predicts. They detect.</a:t>
            </a:r>
          </a:p>
          <a:p>
            <a:r>
              <a:t>Current practice asks whether a valve is failing. It never asks whether it will.</a:t>
            </a:r>
          </a:p>
          <a:p>
            <a:r>
              <a:t>W H AT A CA R D I O LO G I ST D O E S TO DAY</a:t>
            </a:r>
          </a:p>
          <a:p>
            <a:r>
              <a:t>Opens the echo, compares three numbers against the patient's</a:t>
            </a:r>
          </a:p>
          <a:p>
            <a:r>
              <a:t>own baseline. Gradient risen 10 or more, now 20 or more means</a:t>
            </a:r>
          </a:p>
          <a:p>
            <a:r>
              <a:t>moderate deterioration. Otherwise: nothing wrong, return in a</a:t>
            </a:r>
          </a:p>
          <a:p>
            <a:r>
              <a:t>year. A threshold, not a prediction.</a:t>
            </a:r>
          </a:p>
          <a:p>
            <a:r>
              <a:t>W H AT W E AS K</a:t>
            </a:r>
          </a:p>
          <a:p>
            <a:r>
              <a:t>Can patient, prosthesis and serial echocardiography predict</a:t>
            </a:r>
          </a:p>
          <a:p>
            <a:r>
              <a:t>adjudicated deterioration beyond valve age and type, and beyond</a:t>
            </a:r>
          </a:p>
          <a:p>
            <a:r>
              <a:t>that threshold rule? Guideline surveillance stays. The model only</a:t>
            </a:r>
          </a:p>
          <a:p>
            <a:r>
              <a:t>says who needs looking at sooner.</a:t>
            </a:r>
          </a:p>
          <a:p>
            <a:r>
              <a:t>KAIROS</a:t>
            </a:r>
          </a:p>
          <a:p>
            <a:r>
              <a:t>3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 T U DY D E S I G N</a:t>
            </a:r>
          </a:p>
          <a:p>
            <a:r>
              <a:t>Structural deterioration, with death competing</a:t>
            </a:r>
          </a:p>
          <a:p>
            <a:r>
              <a:t>ELEMENT</a:t>
            </a:r>
          </a:p>
          <a:p>
            <a:r>
              <a:t>DEFINITION</a:t>
            </a:r>
          </a:p>
          <a:p>
            <a:r>
              <a:t>Time zero</a:t>
            </a:r>
          </a:p>
          <a:p>
            <a:r>
              <a:t>The patient's own reference echo, 30 to 180 days after</a:t>
            </a:r>
          </a:p>
          <a:p>
            <a:r>
              <a:t>implant. Not a fixed day 90</a:t>
            </a:r>
          </a:p>
          <a:p>
            <a:r>
              <a:t>Primary</a:t>
            </a:r>
          </a:p>
          <a:p>
            <a:r>
              <a:t>First adjudicated VARC-3 stage 2 or 3 haemodynamic</a:t>
            </a:r>
          </a:p>
          <a:p>
            <a:r>
              <a:t>deterioration attributable to SVD</a:t>
            </a:r>
          </a:p>
          <a:p>
            <a:r>
              <a:t>Key secondary</a:t>
            </a:r>
          </a:p>
          <a:p>
            <a:r>
              <a:t>Bioprosthetic valve failure. Deterioration is primary because</a:t>
            </a:r>
          </a:p>
          <a:p>
            <a:r>
              <a:t>failure is a treatment decision: undercounted, and too late to</a:t>
            </a:r>
          </a:p>
          <a:p>
            <a:r>
              <a:t>change surveillance</a:t>
            </a:r>
          </a:p>
          <a:p>
            <a:r>
              <a:t>Competing</a:t>
            </a:r>
          </a:p>
          <a:p>
            <a:r>
              <a:t>Death; index-valve replacement for a non-SVD cause</a:t>
            </a:r>
          </a:p>
          <a:p>
            <a:r>
              <a:t>Intercurrent</a:t>
            </a:r>
          </a:p>
          <a:p>
            <a:r>
              <a:t>Treated thrombosis resolves, so the patient returns to risk</a:t>
            </a:r>
          </a:p>
          <a:p>
            <a:r>
              <a:t>Cohort</a:t>
            </a:r>
          </a:p>
          <a:p>
            <a:r>
              <a:t>3,400 to 5,100 patients by Riley's criteria, counted in</a:t>
            </a:r>
          </a:p>
          <a:p>
            <a:r>
              <a:t>patients and events, never in landmark rows</a:t>
            </a:r>
          </a:p>
          <a:p>
            <a:r>
              <a:t>T WO R U L E S T H AT D EC I D E VA L I D I TY</a:t>
            </a:r>
          </a:p>
          <a:p>
            <a:r>
              <a:t>A day-90 prediction cannot use an echo taken on day 150.</a:t>
            </a:r>
          </a:p>
          <a:p>
            <a:r>
              <a:t>Anchoring on the actual reference study removes the</a:t>
            </a:r>
          </a:p>
          <a:p>
            <a:r>
              <a:t>contradiction and the leakage with it.</a:t>
            </a:r>
          </a:p>
          <a:p>
            <a:r>
              <a:t>The echo that establishes an endpoint is never a predictor of</a:t>
            </a:r>
          </a:p>
          <a:p>
            <a:r>
              <a:t>that endpoint. Without this rule the model looks brilliant and is</a:t>
            </a:r>
          </a:p>
          <a:p>
            <a:r>
              <a:t>worthless.</a:t>
            </a:r>
          </a:p>
          <a:p>
            <a:r>
              <a:t>KAIROS</a:t>
            </a:r>
          </a:p>
          <a:p>
            <a:r>
              <a:t>4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H AT W E B U I LT · 1 / 3 · D ATA</a:t>
            </a:r>
          </a:p>
          <a:p>
            <a:r>
              <a:t>Real records in, synthetic cohorts out</a:t>
            </a:r>
          </a:p>
          <a:p>
            <a:r>
              <a:t>INGESTED · PRIVATE, NEVER LEAVES THE MACHINE</a:t>
            </a:r>
          </a:p>
          <a:p>
            <a:r>
              <a:t>202</a:t>
            </a:r>
          </a:p>
          <a:p>
            <a:r>
              <a:t>notes, 117 patients 43,550</a:t>
            </a:r>
          </a:p>
          <a:p>
            <a:r>
              <a:t>lab rows</a:t>
            </a:r>
          </a:p>
          <a:p>
            <a:r>
              <a:t>5,807</a:t>
            </a:r>
          </a:p>
          <a:p>
            <a:r>
              <a:t>medication rows</a:t>
            </a:r>
          </a:p>
          <a:p>
            <a:r>
              <a:t>INGESTED · PUBLIC, 18 SOURCES, 567 MB, HASHED</a:t>
            </a:r>
          </a:p>
          <a:p>
            <a:r>
              <a:t>Devices</a:t>
            </a:r>
          </a:p>
          <a:p>
            <a:r>
              <a:t>FDA GUDID full release, openFDA MAUDE counts</a:t>
            </a:r>
          </a:p>
          <a:p>
            <a:r>
              <a:t>Haemodynamics</a:t>
            </a:r>
          </a:p>
          <a:p>
            <a:r>
              <a:t>ASE 2024 prosthetic valve reference tables; 10 FDA</a:t>
            </a:r>
          </a:p>
          <a:p>
            <a:r>
              <a:t>SSEDs</a:t>
            </a:r>
          </a:p>
          <a:p>
            <a:r>
              <a:t>Outcomes</a:t>
            </a:r>
          </a:p>
          <a:p>
            <a:r>
              <a:t>ClinicalTrials.gov, 10 trials, 755 measures; NOTION</a:t>
            </a:r>
          </a:p>
          <a:p>
            <a:r>
              <a:t>and Trifecta papers</a:t>
            </a:r>
          </a:p>
          <a:p>
            <a:r>
              <a:t>Only 1 patient has gradients in two different years. Extraction works;</a:t>
            </a:r>
          </a:p>
          <a:p>
            <a:r>
              <a:t>training cannot. The model is developed on six synthetic scenarios,</a:t>
            </a:r>
          </a:p>
          <a:p>
            <a:r>
              <a:t>and every figure says so.</a:t>
            </a:r>
          </a:p>
          <a:p>
            <a:r>
              <a:t>PREPARED</a:t>
            </a:r>
          </a:p>
          <a:p>
            <a:r>
              <a:t>Device normalisation</a:t>
            </a:r>
          </a:p>
          <a:p>
            <a:r>
              <a:t>42 canonical valve models, 75 free-text aliases, 256 ASE reference-</a:t>
            </a:r>
          </a:p>
          <a:p>
            <a:r>
              <a:t>value rows mapped to them</a:t>
            </a:r>
          </a:p>
          <a:p>
            <a:r>
              <a:t>Valve passport</a:t>
            </a:r>
          </a:p>
          <a:p>
            <a:r>
              <a:t>Model, generation, size, route and echo series from free text. Span-</a:t>
            </a:r>
          </a:p>
          <a:p>
            <a:r>
              <a:t>aware rules first; gpt-5.1 in-region behind a flag. Every field keeps its</a:t>
            </a:r>
          </a:p>
          <a:p>
            <a:r>
              <a:t>evidence span</a:t>
            </a:r>
          </a:p>
          <a:p>
            <a:r>
              <a:t>Labs and medications</a:t>
            </a:r>
          </a:p>
          <a:p>
            <a:r>
              <a:t>11,818 non-clinical lab rows removed; anticoagulant exposure timelines;</a:t>
            </a:r>
          </a:p>
          <a:p>
            <a:r>
              <a:t>warfarin INR time in range</a:t>
            </a:r>
          </a:p>
          <a:p>
            <a:r>
              <a:t>Adjudication</a:t>
            </a:r>
          </a:p>
          <a:p>
            <a:r>
              <a:t>VARC-3 staging against the patient's own reference echo, with an</a:t>
            </a:r>
          </a:p>
          <a:p>
            <a:r>
              <a:t>uncertain class; three extraction traps pinned by tests</a:t>
            </a:r>
          </a:p>
          <a:p>
            <a:r>
              <a:t>Landmarks</a:t>
            </a:r>
          </a:p>
          <a:p>
            <a:r>
              <a:t>Re-scored at every echo; leakage rules enforced, the endpoint echo</a:t>
            </a:r>
          </a:p>
          <a:p>
            <a:r>
              <a:t>never a predictor</a:t>
            </a:r>
          </a:p>
          <a:p>
            <a:r>
              <a:t>Synthetic cohorts</a:t>
            </a:r>
          </a:p>
          <a:p>
            <a:r>
              <a:t>Six scenarios from cited literature, a generator calibrated to a</a:t>
            </a:r>
          </a:p>
          <a:p>
            <a:r>
              <a:t>published-evidence registry, fixed seeds</a:t>
            </a:r>
          </a:p>
          <a:p>
            <a:r>
              <a:t>Privacy</a:t>
            </a:r>
          </a:p>
          <a:p>
            <a:r>
              <a:t>Aggregates suppressed below 5; a CI scan blocks any patient-level row</a:t>
            </a:r>
          </a:p>
          <a:p>
            <a:r>
              <a:t>from version control</a:t>
            </a:r>
          </a:p>
          <a:p>
            <a:r>
              <a:t>KAIROS</a:t>
            </a:r>
          </a:p>
          <a:p>
            <a:r>
              <a:t>5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H AT W E B U I LT · 2 / 3 · M O D E L S A N D T E C H N O L O G Y</a:t>
            </a:r>
          </a:p>
          <a:p>
            <a:r>
              <a:t>One inference, three probabilities</a:t>
            </a:r>
          </a:p>
          <a:p>
            <a:r>
              <a:t>EXTRACT</a:t>
            </a:r>
          </a:p>
          <a:p>
            <a:r>
              <a:t>Valve passport from free text,</a:t>
            </a:r>
          </a:p>
          <a:p>
            <a:r>
              <a:t>with evidence spans</a:t>
            </a:r>
          </a:p>
          <a:p>
            <a:r>
              <a:t>ADJUDICATE</a:t>
            </a:r>
          </a:p>
          <a:p>
            <a:r>
              <a:t>VARC-3 stage against the</a:t>
            </a:r>
          </a:p>
          <a:p>
            <a:r>
              <a:t>reference study</a:t>
            </a:r>
          </a:p>
          <a:p>
            <a:r>
              <a:t>PREDICT</a:t>
            </a:r>
          </a:p>
          <a:p>
            <a:r>
              <a:t>Cause-specific hazards: SVD,</a:t>
            </a:r>
          </a:p>
          <a:p>
            <a:r>
              <a:t>death, non-SVD replacement</a:t>
            </a:r>
          </a:p>
          <a:p>
            <a:r>
              <a:t>UPDATE</a:t>
            </a:r>
          </a:p>
          <a:p>
            <a:r>
              <a:t>Re-scored at every echo;</a:t>
            </a:r>
          </a:p>
          <a:p>
            <a:r>
              <a:t>biomarker and anticoagulant</a:t>
            </a:r>
          </a:p>
          <a:p>
            <a:r>
              <a:t>modules</a:t>
            </a:r>
          </a:p>
          <a:p>
            <a:r>
              <a:t>REPORT</a:t>
            </a:r>
          </a:p>
          <a:p>
            <a:r>
              <a:t>Three probabilities at 1, 3, 5</a:t>
            </a:r>
          </a:p>
          <a:p>
            <a:r>
              <a:t>years, drivers, reliability</a:t>
            </a:r>
          </a:p>
          <a:p>
            <a:r>
              <a:t>MODELS</a:t>
            </a:r>
          </a:p>
          <a:p>
            <a:r>
              <a:t>Served</a:t>
            </a:r>
          </a:p>
          <a:p>
            <a:r>
              <a:t>Penalised cause-specific Cox (lifelines, elastic net), per route and cause, combined</a:t>
            </a:r>
          </a:p>
          <a:p>
            <a:r>
              <a:t>into cumulative incidence by piecewise-constant hazard integration</a:t>
            </a:r>
          </a:p>
          <a:p>
            <a:r>
              <a:t>Challenger</a:t>
            </a:r>
          </a:p>
          <a:p>
            <a:r>
              <a:t>Gradient-boosted survival (scikit-survival), nested tuning, same folds. Did not beat</a:t>
            </a:r>
          </a:p>
          <a:p>
            <a:r>
              <a:t>Cox; Cox retained</a:t>
            </a:r>
          </a:p>
          <a:p>
            <a:r>
              <a:t>Comparator</a:t>
            </a:r>
          </a:p>
          <a:p>
            <a:r>
              <a:t>The VARC-3 threshold rule, implemented independently of the model, for net</a:t>
            </a:r>
          </a:p>
          <a:p>
            <a:r>
              <a:t>benefit</a:t>
            </a:r>
          </a:p>
          <a:p>
            <a:r>
              <a:t>Evaluation</a:t>
            </a:r>
          </a:p>
          <a:p>
            <a:r>
              <a:t>IPCW Brier, calibration slope, time-dependent AUC, IPA, 200 patient-level</a:t>
            </a:r>
          </a:p>
          <a:p>
            <a:r>
              <a:t>bootstraps, support gates that abstain</a:t>
            </a:r>
          </a:p>
          <a:p>
            <a:r>
              <a:t>Language model</a:t>
            </a:r>
          </a:p>
          <a:p>
            <a:r>
              <a:t>Azure OpenAI gpt-5.1, Sweden Central only: extraction, adjudication proposals, a</a:t>
            </a:r>
          </a:p>
          <a:p>
            <a:r>
              <a:t>grounded patient summary whose numbers are checked against the facts</a:t>
            </a:r>
          </a:p>
          <a:p>
            <a:r>
              <a:t>TECHNOLOGY</a:t>
            </a:r>
          </a:p>
          <a:p>
            <a:r>
              <a:t>Python 3.11</a:t>
            </a:r>
          </a:p>
          <a:p>
            <a:r>
              <a:t>pandas · SciPy</a:t>
            </a:r>
          </a:p>
          <a:p>
            <a:r>
              <a:t>lifelines</a:t>
            </a:r>
          </a:p>
          <a:p>
            <a:r>
              <a:t>scikit-survival</a:t>
            </a:r>
          </a:p>
          <a:p>
            <a:r>
              <a:t>pydantic</a:t>
            </a:r>
          </a:p>
          <a:p>
            <a:r>
              <a:t>FastAPI extract, predict</a:t>
            </a:r>
          </a:p>
          <a:p>
            <a:r>
              <a:t>Streamlit demo</a:t>
            </a:r>
          </a:p>
          <a:p>
            <a:r>
              <a:t>Azure Container Apps + Jobs</a:t>
            </a:r>
          </a:p>
          <a:p>
            <a:r>
              <a:t>Container Registry</a:t>
            </a:r>
          </a:p>
          <a:p>
            <a:r>
              <a:t>PostgreSQL</a:t>
            </a:r>
          </a:p>
          <a:p>
            <a:r>
              <a:t>Blob Storage</a:t>
            </a:r>
          </a:p>
          <a:p>
            <a:r>
              <a:t>Key Vault</a:t>
            </a:r>
          </a:p>
          <a:p>
            <a:r>
              <a:t>App Insights</a:t>
            </a:r>
          </a:p>
          <a:p>
            <a:r>
              <a:t>Bicep IaC</a:t>
            </a:r>
          </a:p>
          <a:p>
            <a:r>
              <a:t>281 tests · ruff · privacy scan</a:t>
            </a:r>
          </a:p>
          <a:p>
            <a:r>
              <a:t>W H Y T H R E E A N D N OT O N E</a:t>
            </a:r>
          </a:p>
          <a:p>
            <a:r>
              <a:t>One minus the deterioration risk is not the chance of being</a:t>
            </a:r>
          </a:p>
          <a:p>
            <a:r>
              <a:t>alive with a working valve: it includes everyone who died first.</a:t>
            </a:r>
          </a:p>
          <a:p>
            <a:r>
              <a:t>In a population this old, the complement overstates</a:t>
            </a:r>
          </a:p>
          <a:p>
            <a:r>
              <a:t>durability.</a:t>
            </a:r>
          </a:p>
          <a:p>
            <a:r>
              <a:t>KAIROS</a:t>
            </a:r>
          </a:p>
          <a:p>
            <a:r>
              <a:t>6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 H E C O M PA R I S O N T H AT D E C I D E S I T</a:t>
            </a:r>
          </a:p>
          <a:p>
            <a:r>
              <a:t>Beating valve age proves nothing. Beat the rule.</a:t>
            </a:r>
          </a:p>
          <a:p>
            <a:r>
              <a:t>One patient, 58, bicuspid valve, four years after a surgical implant.</a:t>
            </a:r>
          </a:p>
          <a:p>
            <a:r>
              <a:t>MEASURE</a:t>
            </a:r>
          </a:p>
          <a:p>
            <a:r>
              <a:t>DAY 90</a:t>
            </a:r>
          </a:p>
          <a:p>
            <a:r>
              <a:t>YEAR 4</a:t>
            </a:r>
          </a:p>
          <a:p>
            <a:r>
              <a:t>Mean gradient, mmHg</a:t>
            </a:r>
          </a:p>
          <a:p>
            <a:r>
              <a:t>11</a:t>
            </a:r>
          </a:p>
          <a:p>
            <a:r>
              <a:t>19</a:t>
            </a:r>
          </a:p>
          <a:p>
            <a:r>
              <a:t>Dimensionless index</a:t>
            </a:r>
          </a:p>
          <a:p>
            <a:r>
              <a:t>0.48</a:t>
            </a:r>
          </a:p>
          <a:p>
            <a:r>
              <a:t>0.37</a:t>
            </a:r>
          </a:p>
          <a:p>
            <a:r>
              <a:t>Effective orifice area, cm²</a:t>
            </a:r>
          </a:p>
          <a:p>
            <a:r>
              <a:t>1.7</a:t>
            </a:r>
          </a:p>
          <a:p>
            <a:r>
              <a:t>1.25</a:t>
            </a:r>
          </a:p>
          <a:p>
            <a:r>
              <a:t>Rose 8 mmHg. Stage 2 needs a rise of 10 to reach 20. He has crossed no line.</a:t>
            </a:r>
          </a:p>
          <a:p>
            <a:r>
              <a:t>T H E G A P</a:t>
            </a:r>
          </a:p>
          <a:p>
            <a:r>
              <a:t>The rule says nothing is wrong, return in a year.</a:t>
            </a:r>
          </a:p>
          <a:p>
            <a:r>
              <a:t>The model reads the trajectory and brings the assessment</a:t>
            </a:r>
          </a:p>
          <a:p>
            <a:r>
              <a:t>forward to six months.</a:t>
            </a:r>
          </a:p>
          <a:p>
            <a:r>
              <a:t>Net benefit against that rule is the primary clinical</a:t>
            </a:r>
          </a:p>
          <a:p>
            <a:r>
              <a:t>comparison. Illustrative values; the model shown is trained</a:t>
            </a:r>
          </a:p>
          <a:p>
            <a:r>
              <a:t>on synthetic scenarios.</a:t>
            </a:r>
          </a:p>
          <a:p>
            <a:r>
              <a:t>KAIROS</a:t>
            </a:r>
          </a:p>
          <a:p>
            <a:r>
              <a:t>7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E S U LT S · S Y N T H E T I C S C E N A R I O S · S O F T WA R E D E M O N S T R AT I O N</a:t>
            </a:r>
          </a:p>
          <a:p>
            <a:r>
              <a:t>Gains where information exists. Losses reported.</a:t>
            </a:r>
          </a:p>
          <a:p>
            <a:r>
              <a:t>IPCW BRIER AT 5 YEARS</a:t>
            </a:r>
          </a:p>
          <a:p>
            <a:r>
              <a:t>REF</a:t>
            </a:r>
          </a:p>
          <a:p>
            <a:r>
              <a:t>CORE</a:t>
            </a:r>
          </a:p>
          <a:p>
            <a:r>
              <a:t>+MODULES</a:t>
            </a:r>
          </a:p>
          <a:p>
            <a:r>
              <a:t>EVENTS</a:t>
            </a:r>
          </a:p>
          <a:p>
            <a:r>
              <a:t>Gradual stenotic</a:t>
            </a:r>
          </a:p>
          <a:p>
            <a:r>
              <a:t>.0559</a:t>
            </a:r>
          </a:p>
          <a:p>
            <a:r>
              <a:t>.0472</a:t>
            </a:r>
          </a:p>
          <a:p>
            <a:r>
              <a:t>.0485</a:t>
            </a:r>
          </a:p>
          <a:p>
            <a:r>
              <a:t>198</a:t>
            </a:r>
          </a:p>
          <a:p>
            <a:r>
              <a:t>Biomarker, meaningful</a:t>
            </a:r>
          </a:p>
          <a:p>
            <a:r>
              <a:t>.0524</a:t>
            </a:r>
          </a:p>
          <a:p>
            <a:r>
              <a:t>.0476</a:t>
            </a:r>
          </a:p>
          <a:p>
            <a:r>
              <a:t>.0468</a:t>
            </a:r>
          </a:p>
          <a:p>
            <a:r>
              <a:t>178</a:t>
            </a:r>
          </a:p>
          <a:p>
            <a:r>
              <a:t>Biomarker, absent</a:t>
            </a:r>
          </a:p>
          <a:p>
            <a:r>
              <a:t>.0490</a:t>
            </a:r>
          </a:p>
          <a:p>
            <a:r>
              <a:t>.0478</a:t>
            </a:r>
          </a:p>
          <a:p>
            <a:r>
              <a:t>.0475</a:t>
            </a:r>
          </a:p>
          <a:p>
            <a:r>
              <a:t>159</a:t>
            </a:r>
          </a:p>
          <a:p>
            <a:r>
              <a:t>Irregular surveillance</a:t>
            </a:r>
          </a:p>
          <a:p>
            <a:r>
              <a:t>.0639</a:t>
            </a:r>
          </a:p>
          <a:p>
            <a:r>
              <a:t>.0602</a:t>
            </a:r>
          </a:p>
          <a:p>
            <a:r>
              <a:t>.0584</a:t>
            </a:r>
          </a:p>
          <a:p>
            <a:r>
              <a:t>189</a:t>
            </a:r>
          </a:p>
          <a:p>
            <a:r>
              <a:t>Regurgitant, abrupt</a:t>
            </a:r>
          </a:p>
          <a:p>
            <a:r>
              <a:t>.0776</a:t>
            </a:r>
          </a:p>
          <a:p>
            <a:r>
              <a:t>.0782</a:t>
            </a:r>
          </a:p>
          <a:p>
            <a:r>
              <a:t>.0790</a:t>
            </a:r>
          </a:p>
          <a:p>
            <a:r>
              <a:t>267</a:t>
            </a:r>
          </a:p>
          <a:p>
            <a:r>
              <a:t>High competing mortality</a:t>
            </a:r>
          </a:p>
          <a:p>
            <a:r>
              <a:t>.0041</a:t>
            </a:r>
          </a:p>
          <a:p>
            <a:r>
              <a:t>.0042</a:t>
            </a:r>
          </a:p>
          <a:p>
            <a:r>
              <a:t>.0039</a:t>
            </a:r>
          </a:p>
          <a:p>
            <a:r>
              <a:t>3</a:t>
            </a:r>
          </a:p>
          <a:p>
            <a:r>
              <a:t>Lower is better. Reference is valve age and type alone, the weak bar. The guideline threshold rule,</a:t>
            </a:r>
          </a:p>
          <a:p>
            <a:r>
              <a:t>run on the same 10,701 landmarks, returned an evaluable verdict on 0: it abstains without a</a:t>
            </a:r>
          </a:p>
          <a:p>
            <a:r>
              <a:t>complete severity assessment. Net benefit therefore remains unmeasured.</a:t>
            </a:r>
          </a:p>
          <a:p>
            <a:r>
              <a:t>W H E R E I T WO R KS</a:t>
            </a:r>
          </a:p>
          <a:p>
            <a:r>
              <a:t>Gradual stenotic: AUC 0.80 (0.77–0.83), calibration slope 0.88, IPA 0.21.</a:t>
            </a:r>
          </a:p>
          <a:p>
            <a:r>
              <a:t>Without serial echo, Brier rises to .0575, worse than the reference.</a:t>
            </a:r>
          </a:p>
          <a:p>
            <a:r>
              <a:t>Updating is the whole gain.</a:t>
            </a:r>
          </a:p>
          <a:p>
            <a:r>
              <a:t>W H E R E T H E M O D U L E S STAY Q U I E T</a:t>
            </a:r>
          </a:p>
          <a:p>
            <a:r>
              <a:t>The biomarker block helps when the scenario carries information and</a:t>
            </a:r>
          </a:p>
          <a:p>
            <a:r>
              <a:t>does nothing when it does not, as specified in advance.</a:t>
            </a:r>
          </a:p>
          <a:p>
            <a:r>
              <a:t>G RA D I E N T B O OST I N G , T H E P R E - S P EC I F I E D C H A L L E N G E R</a:t>
            </a:r>
          </a:p>
          <a:p>
            <a:r>
              <a:t>Same rows, same folds, 200 patient bootstraps. Brier difference +5.7e-4</a:t>
            </a:r>
          </a:p>
          <a:p>
            <a:r>
              <a:t>[−4.0e-6, +1.1e-3]. It failed its own promotion rule: Cox retained.</a:t>
            </a:r>
          </a:p>
          <a:p>
            <a:r>
              <a:t>W H E R E I T LOS E S , SA I D F I R ST</a:t>
            </a:r>
          </a:p>
          <a:p>
            <a:r>
              <a:t>On abrupt regurgitant failure the reference beats us: no gradient trend</a:t>
            </a:r>
          </a:p>
          <a:p>
            <a:r>
              <a:t>precedes it, and calibration slope falls to 0.67.</a:t>
            </a:r>
          </a:p>
          <a:p>
            <a:r>
              <a:t>KAIROS · synthetic scenarios, not patients</a:t>
            </a:r>
          </a:p>
          <a:p>
            <a:r>
              <a:t>8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H AT W E B U I LT · 3 / 3 · W H AT T H E A P P D E L I V E R S</a:t>
            </a:r>
          </a:p>
          <a:p>
            <a:r>
              <a:t>Note in, decision support out, running on Azure</a:t>
            </a:r>
          </a:p>
          <a:p>
            <a:r>
              <a:t>FOR EACH PATIENT, AT EVERY ECHO</a:t>
            </a:r>
          </a:p>
          <a:p>
            <a:r>
              <a:t>L I V E P ROTOTY P E</a:t>
            </a:r>
          </a:p>
          <a:p>
            <a:r>
              <a:t>kairos-demo.blackground-92784e60</a:t>
            </a:r>
          </a:p>
          <a:p>
            <a:r>
              <a:t>.swedencentral.azurecontainerapps.io</a:t>
            </a:r>
          </a:p>
          <a:p>
            <a:r>
              <a:t>Patient Summary</a:t>
            </a:r>
          </a:p>
          <a:p>
            <a:r>
              <a:t>Patient inputs, all editable</a:t>
            </a:r>
          </a:p>
          <a:p>
            <a:r>
              <a:t>Prediction</a:t>
            </a:r>
          </a:p>
          <a:p>
            <a:r>
              <a:t>Compare families</a:t>
            </a:r>
          </a:p>
          <a:p>
            <a:r>
              <a:t>Risk over time</a:t>
            </a:r>
          </a:p>
          <a:p>
            <a:r>
              <a:t>What-if: next echo</a:t>
            </a:r>
          </a:p>
          <a:p>
            <a:r>
              <a:t>Fill from a note</a:t>
            </a:r>
          </a:p>
          <a:p>
            <a:r>
              <a:t>B E H I N D I T</a:t>
            </a:r>
          </a:p>
          <a:p>
            <a:r>
              <a:t>Extract and predict APIs with OpenAPI contracts; jobs that</a:t>
            </a:r>
          </a:p>
          <a:p>
            <a:r>
              <a:t>generate, train, evaluate and publish models with rollback; one-</a:t>
            </a:r>
          </a:p>
          <a:p>
            <a:r>
              <a:t>command deploy.</a:t>
            </a:r>
          </a:p>
          <a:p>
            <a:r>
              <a:t>R E P RO D U C I B L E</a:t>
            </a:r>
          </a:p>
          <a:p>
            <a:r>
              <a:t>make test &amp;&amp; make quick</a:t>
            </a:r>
          </a:p>
          <a:p>
            <a:r>
              <a:t>Extraction, six scenarios, training and evaluation from a clean</a:t>
            </a:r>
          </a:p>
          <a:p>
            <a:r>
              <a:t>checkout.</a:t>
            </a:r>
          </a:p>
          <a:p>
            <a:r>
              <a:t>Valve passport read from the note: model, generation, size, route, echo series,</a:t>
            </a:r>
          </a:p>
          <a:p>
            <a:r>
              <a:t>each value linked to its source text</a:t>
            </a:r>
          </a:p>
          <a:p>
            <a:r>
              <a:t>1</a:t>
            </a:r>
          </a:p>
          <a:p>
            <a:r>
              <a:t>VARC-3 stage against the patient's own reference study, with an uncertain class</a:t>
            </a:r>
          </a:p>
          <a:p>
            <a:r>
              <a:t>2</a:t>
            </a:r>
          </a:p>
          <a:p>
            <a:r>
              <a:t>Three probabilities at 1, 3 and 5 years: deterioration before death, death before</a:t>
            </a:r>
          </a:p>
          <a:p>
            <a:r>
              <a:t>deterioration, alive with the valve intact</a:t>
            </a:r>
          </a:p>
          <a:p>
            <a:r>
              <a:t>3</a:t>
            </a:r>
          </a:p>
          <a:p>
            <a:r>
              <a:t>Drivers and a reliability statement with reason codes, abstaining where support is</a:t>
            </a:r>
          </a:p>
          <a:p>
            <a:r>
              <a:t>thin</a:t>
            </a:r>
          </a:p>
          <a:p>
            <a:r>
              <a:t>4</a:t>
            </a:r>
          </a:p>
          <a:p>
            <a:r>
              <a:t>Patient Summary: a plain-language narrative, every number checked against the</a:t>
            </a:r>
          </a:p>
          <a:p>
            <a:r>
              <a:t>facts</a:t>
            </a:r>
          </a:p>
          <a:p>
            <a:r>
              <a:t>5</a:t>
            </a:r>
          </a:p>
          <a:p>
            <a:r>
              <a:t>The guideline schedule, unchanged, shown beside the model so it never replaces</a:t>
            </a:r>
          </a:p>
          <a:p>
            <a:r>
              <a:t>it</a:t>
            </a:r>
          </a:p>
          <a:p>
            <a:r>
              <a:t>6</a:t>
            </a:r>
          </a:p>
          <a:p>
            <a:r>
              <a:t>KAIROS · outputs are illustrative and unvalidated</a:t>
            </a:r>
          </a:p>
          <a:p>
            <a:r>
              <a:t>9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H AT C O M E S N E X T</a:t>
            </a:r>
          </a:p>
          <a:p>
            <a:r>
              <a:t>An order we will not skip</a:t>
            </a:r>
          </a:p>
          <a:p>
            <a:r>
              <a:t>1 · R E T ROS P ECT I V E</a:t>
            </a:r>
          </a:p>
          <a:p>
            <a:r>
              <a:t>Development in cohorts with</a:t>
            </a:r>
          </a:p>
          <a:p>
            <a:r>
              <a:t>adjudicated endpoints</a:t>
            </a:r>
          </a:p>
          <a:p>
            <a:r>
              <a:t>2 · F R E E Z E</a:t>
            </a:r>
          </a:p>
          <a:p>
            <a:r>
              <a:t>Temporal and external</a:t>
            </a:r>
          </a:p>
          <a:p>
            <a:r>
              <a:t>validation, untouched centre</a:t>
            </a:r>
          </a:p>
          <a:p>
            <a:r>
              <a:t>3 · S I L E N T</a:t>
            </a:r>
          </a:p>
          <a:p>
            <a:r>
              <a:t>Prospective, no clinical</a:t>
            </a:r>
          </a:p>
          <a:p>
            <a:r>
              <a:t>action on the output</a:t>
            </a:r>
          </a:p>
          <a:p>
            <a:r>
              <a:t>4 · O N LY T H E N</a:t>
            </a:r>
          </a:p>
          <a:p>
            <a:r>
              <a:t>A trial of whether intervals</a:t>
            </a:r>
          </a:p>
          <a:p>
            <a:r>
              <a:t>can safely change</a:t>
            </a:r>
          </a:p>
          <a:p>
            <a:r>
              <a:t>An observational model cannot show that looking less often is safe.</a:t>
            </a:r>
          </a:p>
          <a:p>
            <a:r>
              <a:t>So we never say it. It says who to look at sooner.</a:t>
            </a:r>
          </a:p>
          <a:p>
            <a:r>
              <a:t>KAIROS · the right moment</a:t>
            </a:r>
          </a:p>
          <a:p>
            <a:r>
              <a:t>10 / 10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